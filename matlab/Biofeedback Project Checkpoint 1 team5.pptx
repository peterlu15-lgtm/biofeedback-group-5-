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</p:sldMasterIdLst>
  <p:sldIdLst>
    <p:sldId id="257" r:id="rId5"/>
    <p:sldId id="261" r:id="rId6"/>
    <p:sldId id="262" r:id="rId7"/>
  </p:sldIdLst>
  <p:sldSz cx="23774400" cy="12801600"/>
  <p:notesSz cx="6858000" cy="9144000"/>
  <p:defaultTextStyle>
    <a:defPPr>
      <a:defRPr lang="en-US"/>
    </a:defPPr>
    <a:lvl1pPr marL="0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1pPr>
    <a:lvl2pPr marL="877726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2pPr>
    <a:lvl3pPr marL="1755450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3pPr>
    <a:lvl4pPr marL="2633178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4pPr>
    <a:lvl5pPr marL="3510902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5pPr>
    <a:lvl6pPr marL="4388628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6pPr>
    <a:lvl7pPr marL="5266355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7pPr>
    <a:lvl8pPr marL="6144079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8pPr>
    <a:lvl9pPr marL="7021807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886F6-52D4-2C05-A590-75256039D123}" v="1" dt="2026-02-20T20:34:46.461"/>
    <p1510:client id="{563A7B8B-AEF4-F0BC-B6B6-77224F748BE2}" v="1" dt="2026-02-20T00:21:40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92" y="-240"/>
      </p:cViewPr>
      <p:guideLst>
        <p:guide orient="horz" pos="4032"/>
        <p:guide pos="7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800" y="2095078"/>
            <a:ext cx="17830800" cy="4456853"/>
          </a:xfrm>
        </p:spPr>
        <p:txBody>
          <a:bodyPr anchor="b"/>
          <a:lstStyle>
            <a:lvl1pPr algn="ctr">
              <a:defRPr sz="11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800" y="6723804"/>
            <a:ext cx="17830800" cy="3090756"/>
          </a:xfrm>
        </p:spPr>
        <p:txBody>
          <a:bodyPr/>
          <a:lstStyle>
            <a:lvl1pPr marL="0" indent="0" algn="ctr">
              <a:buNone/>
              <a:defRPr sz="4480"/>
            </a:lvl1pPr>
            <a:lvl2pPr marL="853455" indent="0" algn="ctr">
              <a:buNone/>
              <a:defRPr sz="3733"/>
            </a:lvl2pPr>
            <a:lvl3pPr marL="1706910" indent="0" algn="ctr">
              <a:buNone/>
              <a:defRPr sz="3360"/>
            </a:lvl3pPr>
            <a:lvl4pPr marL="2560366" indent="0" algn="ctr">
              <a:buNone/>
              <a:defRPr sz="2987"/>
            </a:lvl4pPr>
            <a:lvl5pPr marL="3413821" indent="0" algn="ctr">
              <a:buNone/>
              <a:defRPr sz="2987"/>
            </a:lvl5pPr>
            <a:lvl6pPr marL="4267276" indent="0" algn="ctr">
              <a:buNone/>
              <a:defRPr sz="2987"/>
            </a:lvl6pPr>
            <a:lvl7pPr marL="5120731" indent="0" algn="ctr">
              <a:buNone/>
              <a:defRPr sz="2987"/>
            </a:lvl7pPr>
            <a:lvl8pPr marL="5974187" indent="0" algn="ctr">
              <a:buNone/>
              <a:defRPr sz="2987"/>
            </a:lvl8pPr>
            <a:lvl9pPr marL="6827642" indent="0" algn="ctr">
              <a:buNone/>
              <a:defRPr sz="298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8E73-D9AE-4B3A-8CAB-9CDF9B3EF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8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6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2108" y="3191512"/>
            <a:ext cx="20505420" cy="5325109"/>
          </a:xfrm>
        </p:spPr>
        <p:txBody>
          <a:bodyPr anchor="b"/>
          <a:lstStyle>
            <a:lvl1pPr>
              <a:defRPr sz="11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2108" y="8566999"/>
            <a:ext cx="20505420" cy="2800349"/>
          </a:xfrm>
        </p:spPr>
        <p:txBody>
          <a:bodyPr/>
          <a:lstStyle>
            <a:lvl1pPr marL="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1pPr>
            <a:lvl2pPr marL="853455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2pPr>
            <a:lvl3pPr marL="170691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3pPr>
            <a:lvl4pPr marL="2560366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4pPr>
            <a:lvl5pPr marL="3413821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5pPr>
            <a:lvl6pPr marL="4267276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6pPr>
            <a:lvl7pPr marL="5120731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7pPr>
            <a:lvl8pPr marL="5974187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8pPr>
            <a:lvl9pPr marL="6827642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6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4490" y="3407833"/>
            <a:ext cx="1010412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35790" y="3407833"/>
            <a:ext cx="1010412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4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587" y="681568"/>
            <a:ext cx="20505420" cy="247438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7587" y="3138171"/>
            <a:ext cx="10057685" cy="1537969"/>
          </a:xfrm>
        </p:spPr>
        <p:txBody>
          <a:bodyPr anchor="b"/>
          <a:lstStyle>
            <a:lvl1pPr marL="0" indent="0">
              <a:buNone/>
              <a:defRPr sz="4480" b="1"/>
            </a:lvl1pPr>
            <a:lvl2pPr marL="853455" indent="0">
              <a:buNone/>
              <a:defRPr sz="3733" b="1"/>
            </a:lvl2pPr>
            <a:lvl3pPr marL="1706910" indent="0">
              <a:buNone/>
              <a:defRPr sz="3360" b="1"/>
            </a:lvl3pPr>
            <a:lvl4pPr marL="2560366" indent="0">
              <a:buNone/>
              <a:defRPr sz="2987" b="1"/>
            </a:lvl4pPr>
            <a:lvl5pPr marL="3413821" indent="0">
              <a:buNone/>
              <a:defRPr sz="2987" b="1"/>
            </a:lvl5pPr>
            <a:lvl6pPr marL="4267276" indent="0">
              <a:buNone/>
              <a:defRPr sz="2987" b="1"/>
            </a:lvl6pPr>
            <a:lvl7pPr marL="5120731" indent="0">
              <a:buNone/>
              <a:defRPr sz="2987" b="1"/>
            </a:lvl7pPr>
            <a:lvl8pPr marL="5974187" indent="0">
              <a:buNone/>
              <a:defRPr sz="2987" b="1"/>
            </a:lvl8pPr>
            <a:lvl9pPr marL="6827642" indent="0">
              <a:buNone/>
              <a:defRPr sz="29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7587" y="4676140"/>
            <a:ext cx="10057685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35790" y="3138171"/>
            <a:ext cx="10107217" cy="1537969"/>
          </a:xfrm>
        </p:spPr>
        <p:txBody>
          <a:bodyPr anchor="b"/>
          <a:lstStyle>
            <a:lvl1pPr marL="0" indent="0">
              <a:buNone/>
              <a:defRPr sz="4480" b="1"/>
            </a:lvl1pPr>
            <a:lvl2pPr marL="853455" indent="0">
              <a:buNone/>
              <a:defRPr sz="3733" b="1"/>
            </a:lvl2pPr>
            <a:lvl3pPr marL="1706910" indent="0">
              <a:buNone/>
              <a:defRPr sz="3360" b="1"/>
            </a:lvl3pPr>
            <a:lvl4pPr marL="2560366" indent="0">
              <a:buNone/>
              <a:defRPr sz="2987" b="1"/>
            </a:lvl4pPr>
            <a:lvl5pPr marL="3413821" indent="0">
              <a:buNone/>
              <a:defRPr sz="2987" b="1"/>
            </a:lvl5pPr>
            <a:lvl6pPr marL="4267276" indent="0">
              <a:buNone/>
              <a:defRPr sz="2987" b="1"/>
            </a:lvl6pPr>
            <a:lvl7pPr marL="5120731" indent="0">
              <a:buNone/>
              <a:defRPr sz="2987" b="1"/>
            </a:lvl7pPr>
            <a:lvl8pPr marL="5974187" indent="0">
              <a:buNone/>
              <a:defRPr sz="2987" b="1"/>
            </a:lvl8pPr>
            <a:lvl9pPr marL="6827642" indent="0">
              <a:buNone/>
              <a:defRPr sz="29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035790" y="4676140"/>
            <a:ext cx="1010721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3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09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588" y="853440"/>
            <a:ext cx="7667862" cy="2987040"/>
          </a:xfrm>
        </p:spPr>
        <p:txBody>
          <a:bodyPr anchor="b"/>
          <a:lstStyle>
            <a:lvl1pPr>
              <a:defRPr sz="597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7217" y="1843194"/>
            <a:ext cx="12035790" cy="9097433"/>
          </a:xfrm>
        </p:spPr>
        <p:txBody>
          <a:bodyPr/>
          <a:lstStyle>
            <a:lvl1pPr>
              <a:defRPr sz="5973"/>
            </a:lvl1pPr>
            <a:lvl2pPr>
              <a:defRPr sz="5227"/>
            </a:lvl2pPr>
            <a:lvl3pPr>
              <a:defRPr sz="4480"/>
            </a:lvl3pPr>
            <a:lvl4pPr>
              <a:defRPr sz="3733"/>
            </a:lvl4pPr>
            <a:lvl5pPr>
              <a:defRPr sz="3733"/>
            </a:lvl5pPr>
            <a:lvl6pPr>
              <a:defRPr sz="3733"/>
            </a:lvl6pPr>
            <a:lvl7pPr>
              <a:defRPr sz="3733"/>
            </a:lvl7pPr>
            <a:lvl8pPr>
              <a:defRPr sz="3733"/>
            </a:lvl8pPr>
            <a:lvl9pPr>
              <a:defRPr sz="3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7588" y="3840480"/>
            <a:ext cx="7667862" cy="7114964"/>
          </a:xfrm>
        </p:spPr>
        <p:txBody>
          <a:bodyPr/>
          <a:lstStyle>
            <a:lvl1pPr marL="0" indent="0">
              <a:buNone/>
              <a:defRPr sz="2987"/>
            </a:lvl1pPr>
            <a:lvl2pPr marL="853455" indent="0">
              <a:buNone/>
              <a:defRPr sz="2613"/>
            </a:lvl2pPr>
            <a:lvl3pPr marL="1706910" indent="0">
              <a:buNone/>
              <a:defRPr sz="2240"/>
            </a:lvl3pPr>
            <a:lvl4pPr marL="2560366" indent="0">
              <a:buNone/>
              <a:defRPr sz="1867"/>
            </a:lvl4pPr>
            <a:lvl5pPr marL="3413821" indent="0">
              <a:buNone/>
              <a:defRPr sz="1867"/>
            </a:lvl5pPr>
            <a:lvl6pPr marL="4267276" indent="0">
              <a:buNone/>
              <a:defRPr sz="1867"/>
            </a:lvl6pPr>
            <a:lvl7pPr marL="5120731" indent="0">
              <a:buNone/>
              <a:defRPr sz="1867"/>
            </a:lvl7pPr>
            <a:lvl8pPr marL="5974187" indent="0">
              <a:buNone/>
              <a:defRPr sz="1867"/>
            </a:lvl8pPr>
            <a:lvl9pPr marL="6827642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588" y="853440"/>
            <a:ext cx="7667862" cy="2987040"/>
          </a:xfrm>
        </p:spPr>
        <p:txBody>
          <a:bodyPr anchor="b"/>
          <a:lstStyle>
            <a:lvl1pPr>
              <a:defRPr sz="597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07217" y="1843194"/>
            <a:ext cx="12035790" cy="9097433"/>
          </a:xfrm>
        </p:spPr>
        <p:txBody>
          <a:bodyPr anchor="t"/>
          <a:lstStyle>
            <a:lvl1pPr marL="0" indent="0">
              <a:buNone/>
              <a:defRPr sz="5973"/>
            </a:lvl1pPr>
            <a:lvl2pPr marL="853455" indent="0">
              <a:buNone/>
              <a:defRPr sz="5227"/>
            </a:lvl2pPr>
            <a:lvl3pPr marL="1706910" indent="0">
              <a:buNone/>
              <a:defRPr sz="4480"/>
            </a:lvl3pPr>
            <a:lvl4pPr marL="2560366" indent="0">
              <a:buNone/>
              <a:defRPr sz="3733"/>
            </a:lvl4pPr>
            <a:lvl5pPr marL="3413821" indent="0">
              <a:buNone/>
              <a:defRPr sz="3733"/>
            </a:lvl5pPr>
            <a:lvl6pPr marL="4267276" indent="0">
              <a:buNone/>
              <a:defRPr sz="3733"/>
            </a:lvl6pPr>
            <a:lvl7pPr marL="5120731" indent="0">
              <a:buNone/>
              <a:defRPr sz="3733"/>
            </a:lvl7pPr>
            <a:lvl8pPr marL="5974187" indent="0">
              <a:buNone/>
              <a:defRPr sz="3733"/>
            </a:lvl8pPr>
            <a:lvl9pPr marL="6827642" indent="0">
              <a:buNone/>
              <a:defRPr sz="373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7588" y="3840480"/>
            <a:ext cx="7667862" cy="7114964"/>
          </a:xfrm>
        </p:spPr>
        <p:txBody>
          <a:bodyPr/>
          <a:lstStyle>
            <a:lvl1pPr marL="0" indent="0">
              <a:buNone/>
              <a:defRPr sz="2987"/>
            </a:lvl1pPr>
            <a:lvl2pPr marL="853455" indent="0">
              <a:buNone/>
              <a:defRPr sz="2613"/>
            </a:lvl2pPr>
            <a:lvl3pPr marL="1706910" indent="0">
              <a:buNone/>
              <a:defRPr sz="2240"/>
            </a:lvl3pPr>
            <a:lvl4pPr marL="2560366" indent="0">
              <a:buNone/>
              <a:defRPr sz="1867"/>
            </a:lvl4pPr>
            <a:lvl5pPr marL="3413821" indent="0">
              <a:buNone/>
              <a:defRPr sz="1867"/>
            </a:lvl5pPr>
            <a:lvl6pPr marL="4267276" indent="0">
              <a:buNone/>
              <a:defRPr sz="1867"/>
            </a:lvl6pPr>
            <a:lvl7pPr marL="5120731" indent="0">
              <a:buNone/>
              <a:defRPr sz="1867"/>
            </a:lvl7pPr>
            <a:lvl8pPr marL="5974187" indent="0">
              <a:buNone/>
              <a:defRPr sz="1867"/>
            </a:lvl8pPr>
            <a:lvl9pPr marL="6827642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02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54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13555" y="681567"/>
            <a:ext cx="5126355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34490" y="681567"/>
            <a:ext cx="15081885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7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4490" y="681568"/>
            <a:ext cx="2050542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4490" y="3407833"/>
            <a:ext cx="2050542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34490" y="11865187"/>
            <a:ext cx="534924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5270" y="11865187"/>
            <a:ext cx="802386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790670" y="11865187"/>
            <a:ext cx="534924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63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1706910" rtl="0" eaLnBrk="1" latinLnBrk="0" hangingPunct="1">
        <a:lnSpc>
          <a:spcPct val="90000"/>
        </a:lnSpc>
        <a:spcBef>
          <a:spcPct val="0"/>
        </a:spcBef>
        <a:buNone/>
        <a:defRPr sz="82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6728" indent="-426728" algn="l" defTabSz="1706910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5227" kern="1200">
          <a:solidFill>
            <a:schemeClr val="tx1"/>
          </a:solidFill>
          <a:latin typeface="+mn-lt"/>
          <a:ea typeface="+mn-ea"/>
          <a:cs typeface="+mn-cs"/>
        </a:defRPr>
      </a:lvl1pPr>
      <a:lvl2pPr marL="1280183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2pPr>
      <a:lvl3pPr marL="2133638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3pPr>
      <a:lvl4pPr marL="2987093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840549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694004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5547459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914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7254370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53455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706910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66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13821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67276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5120731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974187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827642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06653" y="-1922"/>
            <a:ext cx="13562217" cy="5520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2987" b="1" dirty="0"/>
              <a:t>Sprint Planning Board</a:t>
            </a:r>
            <a:r>
              <a:rPr lang="en-US" sz="2987" b="1" dirty="0"/>
              <a:t> 2</a:t>
            </a:r>
            <a:endParaRPr sz="2987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376423"/>
              </p:ext>
            </p:extLst>
          </p:nvPr>
        </p:nvGraphicFramePr>
        <p:xfrm>
          <a:off x="236705" y="221210"/>
          <a:ext cx="9187364" cy="2188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9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9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r>
                        <a:rPr lang="en-US" sz="2200" i="0" dirty="0"/>
                        <a:t>Team: </a:t>
                      </a:r>
                      <a:r>
                        <a:rPr lang="en-US" sz="2200" b="0" i="0" dirty="0"/>
                        <a:t>Name </a:t>
                      </a:r>
                      <a:r>
                        <a:rPr lang="en-US" sz="2200" b="0" i="0" dirty="0" err="1"/>
                        <a:t>Ex</a:t>
                      </a:r>
                      <a:r>
                        <a:rPr lang="en-US" sz="2200" b="0" i="0" u="none" strike="noStrike" noProof="0" dirty="0" err="1">
                          <a:latin typeface="Calibri"/>
                        </a:rPr>
                        <a:t>Pulse</a:t>
                      </a:r>
                      <a:r>
                        <a:rPr lang="en-US" sz="2200" b="0" i="0" u="none" strike="noStrike" noProof="0" dirty="0">
                          <a:latin typeface="Calibri"/>
                        </a:rPr>
                        <a:t> Team</a:t>
                      </a:r>
                      <a:endParaRPr lang="en-US" sz="2200" b="0" i="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200" b="1" i="0" dirty="0"/>
                        <a:t>GitHub: </a:t>
                      </a:r>
                      <a:r>
                        <a:rPr lang="en-US" sz="2200" b="0" i="0" u="none" strike="noStrike" noProof="0" dirty="0">
                          <a:latin typeface="Calibri"/>
                        </a:rPr>
                        <a:t>https://github.com/peterlu15-lgtm/biofeedback-Group-5-.git</a:t>
                      </a:r>
                      <a:endParaRPr lang="en-US" sz="2200" b="0" i="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b="1" i="0"/>
                        <a:t>Scrum Master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i="0" dirty="0"/>
                        <a:t>Hardware Lead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i="0"/>
                        <a:t>Software Lead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i="0"/>
                        <a:t>Integration Lead</a:t>
                      </a:r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endParaRPr lang="en-US" sz="2200" i="0" dirty="0"/>
                    </a:p>
                    <a:p>
                      <a:pPr lvl="0">
                        <a:buNone/>
                      </a:pPr>
                      <a:r>
                        <a:rPr lang="en-US" sz="2200" i="0" dirty="0"/>
                        <a:t>Nathan Hong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i="0" dirty="0"/>
                        <a:t>Anwitha </a:t>
                      </a:r>
                      <a:r>
                        <a:rPr lang="en-US" sz="2200" i="0" dirty="0" err="1"/>
                        <a:t>Sanivarapu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0" baseline="0" dirty="0"/>
                        <a:t>Yitian Lu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0" baseline="0" dirty="0"/>
                        <a:t>Audrey Chiang 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652787"/>
              </p:ext>
            </p:extLst>
          </p:nvPr>
        </p:nvGraphicFramePr>
        <p:xfrm>
          <a:off x="206119" y="3265689"/>
          <a:ext cx="955758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2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6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3462">
                <a:tc>
                  <a:txBody>
                    <a:bodyPr/>
                    <a:lstStyle/>
                    <a:p>
                      <a:r>
                        <a:rPr lang="en-US" sz="2200" dirty="0"/>
                        <a:t>Sprint: 2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 gridSpan="2">
                  <a:txBody>
                    <a:bodyPr/>
                    <a:lstStyle/>
                    <a:p>
                      <a:r>
                        <a:rPr lang="en-US" sz="2200" dirty="0"/>
                        <a:t>Start: 13/02/2026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i="0" dirty="0"/>
                        <a:t>End: </a:t>
                      </a:r>
                      <a:r>
                        <a:rPr lang="en-US" sz="2200" b="1" i="1" dirty="0"/>
                        <a:t>20/02/2026</a:t>
                      </a:r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462">
                <a:tc gridSpan="4">
                  <a:txBody>
                    <a:bodyPr/>
                    <a:lstStyle/>
                    <a:p>
                      <a:r>
                        <a:rPr lang="en-US" sz="2200" b="1"/>
                        <a:t>Sprint</a:t>
                      </a:r>
                      <a:r>
                        <a:rPr lang="en-US" sz="2200" b="1" baseline="0"/>
                        <a:t> Goal</a:t>
                      </a:r>
                      <a:endParaRPr lang="en-US" sz="2200" b="1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660">
                <a:tc gridSpan="4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sz="2400" b="0" dirty="0"/>
                        <a:t>Develop digital filters to clean the raw sensor data and replace the wired connection with an (</a:t>
                      </a:r>
                      <a:r>
                        <a:rPr lang="en-US" altLang="zh-CN" sz="2400" b="0" dirty="0" err="1"/>
                        <a:t>e.g</a:t>
                      </a:r>
                      <a:r>
                        <a:rPr lang="en-US" altLang="zh-CN" sz="2400" b="0" dirty="0"/>
                        <a:t> HC-05 Bluetooth serial link) to achieve stable wireless data transmission</a:t>
                      </a:r>
                      <a:endParaRPr lang="en-US" sz="2200" b="0" i="1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462">
                <a:tc gridSpan="4">
                  <a:txBody>
                    <a:bodyPr/>
                    <a:lstStyle/>
                    <a:p>
                      <a:r>
                        <a:rPr lang="en-US" sz="2200" b="1" dirty="0"/>
                        <a:t>Definition of Done</a:t>
                      </a:r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0387">
                <a:tc gridSpan="2"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i="1"/>
                        <a:t>Code pushed to GitHub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i="1"/>
                        <a:t>Code well</a:t>
                      </a:r>
                      <a:r>
                        <a:rPr lang="en-US" sz="2200" i="1" baseline="0"/>
                        <a:t> </a:t>
                      </a:r>
                      <a:r>
                        <a:rPr lang="en-US" sz="2200" i="1"/>
                        <a:t>commented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i="1"/>
                        <a:t>Hardware wired cleanly</a:t>
                      </a:r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i="1" dirty="0"/>
                        <a:t>Demo works live</a:t>
                      </a:r>
                    </a:p>
                    <a:p>
                      <a:pPr marL="342900" marR="0" lvl="0" indent="-34290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2200" i="1" dirty="0"/>
                        <a:t>Short demo video</a:t>
                      </a:r>
                      <a:r>
                        <a:rPr lang="en-US" sz="2200" i="1" baseline="0" dirty="0"/>
                        <a:t> recorded (</a:t>
                      </a:r>
                      <a:r>
                        <a:rPr lang="en-US" sz="2200" i="1" dirty="0"/>
                        <a:t>≤1 min)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i="1" dirty="0"/>
                        <a:t>README</a:t>
                      </a:r>
                      <a:r>
                        <a:rPr lang="en-US" sz="2200" i="1" baseline="0" dirty="0"/>
                        <a:t> and </a:t>
                      </a:r>
                      <a:r>
                        <a:rPr lang="en-US" sz="2200" i="1" dirty="0"/>
                        <a:t>Manual updated with instructions</a:t>
                      </a:r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330805"/>
              </p:ext>
            </p:extLst>
          </p:nvPr>
        </p:nvGraphicFramePr>
        <p:xfrm>
          <a:off x="9978839" y="4303303"/>
          <a:ext cx="13574444" cy="494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4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7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i="0"/>
                        <a:t>Task Breakdown</a:t>
                      </a:r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b="1" i="0"/>
                        <a:t>Task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 i="0"/>
                        <a:t>Linked User Story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 i="0"/>
                        <a:t>Owner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 i="0"/>
                        <a:t>Estimated</a:t>
                      </a:r>
                      <a:r>
                        <a:rPr lang="en-US" sz="2200" b="1" i="0" baseline="0"/>
                        <a:t> Hours</a:t>
                      </a:r>
                      <a:endParaRPr lang="en-US" sz="2200" b="1" i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dirty="0"/>
                        <a:t>Implement a 0.5-4Hz band-pass filter to extract clean PPG peaks from noisy raw data.</a:t>
                      </a:r>
                      <a:endParaRPr lang="en-US" sz="2200" b="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fr-CA" altLang="zh-CN" sz="2400" dirty="0"/>
                        <a:t>US0, US1</a:t>
                      </a:r>
                      <a:endParaRPr lang="en-US" sz="220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fr-CA" altLang="zh-CN" sz="2400" dirty="0"/>
                        <a:t>Yitian Lu</a:t>
                      </a:r>
                      <a:endParaRPr lang="en-US" sz="220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0" dirty="0"/>
                        <a:t>5-7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i="0" dirty="0"/>
                        <a:t>Develop logic to classify heart rate zones (e.g., warm-up, active) and detect motion artifacts.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0" dirty="0"/>
                        <a:t>US0,1,2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fr-CA" altLang="zh-CN" sz="2400" dirty="0"/>
                        <a:t>Yitian Lu</a:t>
                      </a:r>
                      <a:endParaRPr lang="en-US" sz="220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0" dirty="0"/>
                        <a:t>2-3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 dirty="0">
                          <a:latin typeface="+mn-lt"/>
                        </a:rPr>
                        <a:t>Update MATLAB GUI to visualize dual-channel data and display real-time classification results.</a:t>
                      </a:r>
                      <a:endParaRPr lang="zh-CN" altLang="en-US" b="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0"/>
                        <a:t>US0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sz="2200" i="0" dirty="0"/>
                        <a:t>Nathan Hong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0"/>
                        <a:t>3-5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i="0" dirty="0"/>
                        <a:t>Basic setup of HC-05 Bluetooth to ensure wireless serial streaming is viable.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0"/>
                        <a:t>US2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0" dirty="0"/>
                        <a:t>Anwitha,</a:t>
                      </a:r>
                      <a:r>
                        <a:rPr lang="en-US" altLang="zh-CN" sz="2200" i="0" baseline="0" dirty="0"/>
                        <a:t> Audrey</a:t>
                      </a:r>
                      <a:endParaRPr lang="en-US" sz="220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0" dirty="0"/>
                        <a:t>3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endParaRPr lang="en-US" sz="220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0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325471"/>
              </p:ext>
            </p:extLst>
          </p:nvPr>
        </p:nvGraphicFramePr>
        <p:xfrm>
          <a:off x="9951024" y="453820"/>
          <a:ext cx="13586671" cy="3911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9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4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i="0" dirty="0"/>
                        <a:t>User Stories</a:t>
                      </a:r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1" i="0"/>
                        <a:t>ID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i="0"/>
                        <a:t>User Story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i="0"/>
                        <a:t>Acceptance</a:t>
                      </a:r>
                      <a:r>
                        <a:rPr lang="en-US" sz="2200" b="1" i="0" baseline="0"/>
                        <a:t> Criteria</a:t>
                      </a:r>
                      <a:endParaRPr lang="en-US" sz="2200" b="1" i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i="0"/>
                        <a:t>Priority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0"/>
                        <a:t>US0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noProof="0" dirty="0">
                          <a:latin typeface="Calibri"/>
                        </a:rPr>
                        <a:t>As a user, I want the system to calculate my BPM  accurately from the PPG signal</a:t>
                      </a:r>
                      <a:endParaRPr lang="en-US" sz="2200" b="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200" b="0" i="0" u="none" strike="noStrike" baseline="0" noProof="0">
                          <a:latin typeface="Calibri"/>
                        </a:rPr>
                        <a:t>BPM calculated and updated every 5 seconds</a:t>
                      </a:r>
                      <a:endParaRPr lang="zh-CN" altLang="en-US" i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0"/>
                        <a:t>H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0"/>
                        <a:t>US1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0" i="0" dirty="0"/>
                        <a:t>As a user, I want to see my </a:t>
                      </a:r>
                      <a:r>
                        <a:rPr lang="en-US" sz="2200" b="0" i="0" u="none" strike="noStrike" noProof="0" dirty="0">
                          <a:latin typeface="Calibri"/>
                        </a:rPr>
                        <a:t>live pulse waveform </a:t>
                      </a:r>
                      <a:r>
                        <a:rPr lang="en-US" sz="2200" b="0" i="0" dirty="0"/>
                        <a:t>live on screen.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i="0"/>
                        <a:t>Signal updates every 20 Hz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i="0"/>
                        <a:t>M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7276">
                <a:tc>
                  <a:txBody>
                    <a:bodyPr/>
                    <a:lstStyle/>
                    <a:p>
                      <a:pPr algn="l"/>
                      <a:r>
                        <a:rPr lang="en-US" sz="2200" i="0"/>
                        <a:t>US2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200" b="0" i="0" u="none" strike="noStrike" noProof="0" dirty="0">
                          <a:latin typeface="Calibri"/>
                        </a:rPr>
                        <a:t>As a user, I want the system to identify my Heart Rate Zone (e.g., Warm-up, Fat Burn, Peak) based on my BPM.</a:t>
                      </a:r>
                      <a:endParaRPr lang="en-US" sz="2200" b="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200" b="0" i="0" u="none" strike="noStrike" noProof="0">
                          <a:latin typeface="Calibri"/>
                        </a:rPr>
                        <a:t>The zone is mapped and remembered every 5 seconds.</a:t>
                      </a:r>
                      <a:r>
                        <a:rPr lang="en-US" altLang="zh-CN" sz="2200" b="0" i="0" u="none" strike="noStrike" noProof="0">
                          <a:latin typeface="Calibri"/>
                        </a:rPr>
                        <a:t> </a:t>
                      </a:r>
                      <a:endParaRPr lang="zh-CN" altLang="en-US" i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i="0" dirty="0"/>
                        <a:t>H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270528"/>
              </p:ext>
            </p:extLst>
          </p:nvPr>
        </p:nvGraphicFramePr>
        <p:xfrm>
          <a:off x="278013" y="7888063"/>
          <a:ext cx="9516280" cy="4798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6275">
                <a:tc>
                  <a:txBody>
                    <a:bodyPr/>
                    <a:lstStyle/>
                    <a:p>
                      <a:r>
                        <a:rPr lang="en-US" sz="2200"/>
                        <a:t>System Architecture</a:t>
                      </a:r>
                      <a:endParaRPr lang="en-US" sz="2200" b="0" i="1"/>
                    </a:p>
                  </a:txBody>
                  <a:tcPr marL="170688" marR="170688" marT="85344" marB="85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4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/>
                    </a:p>
                  </a:txBody>
                  <a:tcPr marL="170688" marR="170688" marT="85344" marB="853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926408"/>
              </p:ext>
            </p:extLst>
          </p:nvPr>
        </p:nvGraphicFramePr>
        <p:xfrm>
          <a:off x="10006654" y="9184933"/>
          <a:ext cx="1357444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5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2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200"/>
                        <a:t>Risks</a:t>
                      </a:r>
                      <a:r>
                        <a:rPr lang="en-US" sz="2200" baseline="0"/>
                        <a:t> &amp; Unknowns</a:t>
                      </a:r>
                      <a:endParaRPr lang="en-US" sz="220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b="1"/>
                        <a:t>Risk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Likelihood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Mitigation Plan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i="1"/>
                        <a:t>Noisy</a:t>
                      </a:r>
                      <a:r>
                        <a:rPr lang="en-US" sz="2200" i="1" baseline="0"/>
                        <a:t> signal</a:t>
                      </a:r>
                      <a:endParaRPr lang="en-US" sz="2200" i="1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/>
                        <a:t>H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/>
                        <a:t>Add shielding and digital filter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88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latin typeface="Calibri"/>
                        </a:rPr>
                        <a:t>Skin Contact &amp; Sweat</a:t>
                      </a:r>
                      <a:endParaRPr lang="zh-CN" altLang="en-US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H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latin typeface="Calibri"/>
                        </a:rPr>
                        <a:t>Use tape or Velcro to keep the sensor tight and dry</a:t>
                      </a:r>
                      <a:endParaRPr lang="zh-CN" altLang="en-US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 dirty="0">
                          <a:latin typeface="Calibri"/>
                        </a:rPr>
                        <a:t>User Discomfort</a:t>
                      </a:r>
                      <a:endParaRPr lang="zh-CN" altLang="en-US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>
                          <a:latin typeface="Calibri"/>
                        </a:rPr>
                        <a:t>M</a:t>
                      </a:r>
                      <a:endParaRPr lang="zh-CN" altLang="en-US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b="0" i="0" u="none" strike="noStrike" noProof="0" dirty="0">
                          <a:latin typeface="Calibri"/>
                        </a:rPr>
                        <a:t>Design a lightweight, low-profile housing to minimize friction during exercise.</a:t>
                      </a:r>
                      <a:endParaRPr lang="zh-CN" altLang="en-US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4" name="Group 53"/>
          <p:cNvGrpSpPr/>
          <p:nvPr/>
        </p:nvGrpSpPr>
        <p:grpSpPr>
          <a:xfrm>
            <a:off x="895953" y="8539030"/>
            <a:ext cx="8280400" cy="3902174"/>
            <a:chOff x="13284940" y="8238801"/>
            <a:chExt cx="10498973" cy="4291198"/>
          </a:xfrm>
        </p:grpSpPr>
        <p:cxnSp>
          <p:nvCxnSpPr>
            <p:cNvPr id="36" name="Straight Arrow Connector 35"/>
            <p:cNvCxnSpPr/>
            <p:nvPr/>
          </p:nvCxnSpPr>
          <p:spPr>
            <a:xfrm>
              <a:off x="15649457" y="9283301"/>
              <a:ext cx="1699438" cy="1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9719957" y="9283303"/>
              <a:ext cx="1699437" cy="1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21412852" y="8608135"/>
              <a:ext cx="2371061" cy="135033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dirty="0">
                  <a:ea typeface="+mn-lt"/>
                  <a:cs typeface="+mn-lt"/>
                </a:rPr>
                <a:t>A MATLAB GUI +</a:t>
              </a:r>
            </a:p>
            <a:p>
              <a:pPr algn="ctr"/>
              <a:r>
                <a:rPr lang="en-US" sz="2000" dirty="0">
                  <a:ea typeface="Calibri"/>
                  <a:cs typeface="Calibri"/>
                </a:rPr>
                <a:t>LED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3284940" y="8608135"/>
              <a:ext cx="2371061" cy="135033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ea typeface="+mn-lt"/>
                  <a:cs typeface="+mn-lt"/>
                </a:rPr>
                <a:t>PPG Device</a:t>
              </a:r>
              <a:endParaRPr lang="zh-CN" altLang="en-US"/>
            </a:p>
            <a:p>
              <a:pPr algn="ctr"/>
              <a:endParaRPr lang="en-US" sz="1400">
                <a:ea typeface="Calibri"/>
                <a:cs typeface="Calibri"/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7348896" y="8608135"/>
              <a:ext cx="2371061" cy="135033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/>
                <a:t>Arduino + PC</a:t>
              </a:r>
              <a:endParaRPr lang="en-US" sz="14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3291484" y="8238801"/>
              <a:ext cx="2364517" cy="439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/>
                <a:t>Input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7348895" y="8238801"/>
              <a:ext cx="2364517" cy="439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/>
                <a:t>Controls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1419396" y="8238801"/>
              <a:ext cx="2364517" cy="439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/>
                <a:t>Output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5656001" y="9331863"/>
              <a:ext cx="1692894" cy="9138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fr-CA" altLang="zh-CN" sz="1600" dirty="0"/>
                <a:t>Wire.h Library</a:t>
              </a:r>
              <a:endParaRPr lang="en-US" sz="1600" i="1" baseline="30000" dirty="0"/>
            </a:p>
            <a:p>
              <a:pPr algn="ctr"/>
              <a:endParaRPr lang="en-US" sz="1600" dirty="0">
                <a:ea typeface="Calibri"/>
                <a:cs typeface="Calibri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5642911" y="8872066"/>
              <a:ext cx="1692893" cy="439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I2C Bus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3487676" y="11781572"/>
              <a:ext cx="1880467" cy="609228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algn="ctr"/>
              <a:r>
                <a:rPr lang="en-US" sz="2000"/>
                <a:t>~$30</a:t>
              </a:r>
            </a:p>
            <a:p>
              <a:pPr algn="ctr"/>
              <a:r>
                <a:rPr lang="en-US" sz="1000">
                  <a:ea typeface="+mn-lt"/>
                  <a:cs typeface="+mn-lt"/>
                </a:rPr>
                <a:t>https//www.mikroe.com</a:t>
              </a:r>
              <a:endParaRPr lang="en-US">
                <a:ea typeface="+mn-lt"/>
                <a:cs typeface="+mn-lt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822645" y="11658749"/>
              <a:ext cx="1888597" cy="609228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algn="ctr"/>
              <a:r>
                <a:rPr lang="en-US" sz="2000"/>
                <a:t>~$50</a:t>
              </a:r>
            </a:p>
            <a:p>
              <a:pPr algn="ctr"/>
              <a:r>
                <a:rPr lang="en-US" sz="1000">
                  <a:ea typeface="+mn-lt"/>
                  <a:cs typeface="+mn-lt"/>
                </a:rPr>
                <a:t>https://www.arduino.cc/</a:t>
              </a:r>
              <a:endParaRPr lang="en-US">
                <a:ea typeface="+mn-lt"/>
                <a:cs typeface="+mn-lt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9719958" y="9331196"/>
              <a:ext cx="1692894" cy="64307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600" dirty="0">
                  <a:ea typeface="+mn-lt"/>
                  <a:cs typeface="+mn-lt"/>
                </a:rPr>
                <a:t>Wireless Serial</a:t>
              </a:r>
              <a:endParaRPr lang="zh-CN" altLang="en-US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9704082" y="8563134"/>
              <a:ext cx="1692893" cy="778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altLang="zh-CN" sz="2000" dirty="0"/>
                <a:t>Bluetooth (HC-05)</a:t>
              </a:r>
              <a:endParaRPr lang="en-US" sz="20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7197442" y="11413080"/>
              <a:ext cx="2792977" cy="111691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000" dirty="0"/>
                <a:t>~$35</a:t>
              </a:r>
            </a:p>
            <a:p>
              <a:pPr algn="ctr"/>
              <a:r>
                <a:rPr lang="en-US" sz="1000" dirty="0">
                  <a:ea typeface="+mn-lt"/>
                  <a:cs typeface="+mn-lt"/>
                </a:rPr>
                <a:t>https://www.arduino.cc/</a:t>
              </a:r>
              <a:endParaRPr lang="en-US" dirty="0">
                <a:ea typeface="+mn-lt"/>
                <a:cs typeface="+mn-lt"/>
              </a:endParaRPr>
            </a:p>
            <a:p>
              <a:pPr algn="ctr"/>
              <a:r>
                <a:rPr lang="en-US" sz="2000" dirty="0"/>
                <a:t>+ </a:t>
              </a:r>
              <a:r>
                <a:rPr lang="fr-CA" altLang="zh-CN" sz="2000" dirty="0"/>
                <a:t>Digital Filtering</a:t>
              </a:r>
              <a:endParaRPr lang="en-US" sz="2000" dirty="0"/>
            </a:p>
            <a:p>
              <a:pPr algn="ctr"/>
              <a:r>
                <a:rPr lang="en-US" sz="1000" dirty="0">
                  <a:ea typeface="+mn-lt"/>
                  <a:cs typeface="+mn-lt"/>
                </a:rPr>
                <a:t>https://docs.arduino.cc/</a:t>
              </a:r>
              <a:endParaRPr lang="en-US" dirty="0">
                <a:ea typeface="+mn-lt"/>
                <a:cs typeface="+mn-lt"/>
              </a:endParaRPr>
            </a:p>
          </p:txBody>
        </p:sp>
      </p:grp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CEF9EEA1-2E58-2C98-2005-2914DADBAC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32" t="49919" r="31131" b="6978"/>
          <a:stretch>
            <a:fillRect/>
          </a:stretch>
        </p:blipFill>
        <p:spPr>
          <a:xfrm>
            <a:off x="1204255" y="10294312"/>
            <a:ext cx="1191934" cy="1353184"/>
          </a:xfrm>
          <a:prstGeom prst="rect">
            <a:avLst/>
          </a:prstGeom>
        </p:spPr>
      </p:pic>
      <p:pic>
        <p:nvPicPr>
          <p:cNvPr id="6" name="图片 5" descr="电子设备&#10;&#10;AI 生成的内容可能不正确。">
            <a:extLst>
              <a:ext uri="{FF2B5EF4-FFF2-40B4-BE49-F238E27FC236}">
                <a16:creationId xmlns:a16="http://schemas.microsoft.com/office/drawing/2014/main" id="{3BFF81D1-DB0C-E2A2-447F-B13AF26FA9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65" b="1862"/>
          <a:stretch>
            <a:fillRect/>
          </a:stretch>
        </p:blipFill>
        <p:spPr>
          <a:xfrm>
            <a:off x="4314997" y="10143723"/>
            <a:ext cx="1330852" cy="13685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FC74CEF-26D5-5D04-1B02-958175580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343" y="10281221"/>
            <a:ext cx="1166892" cy="12220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199041"/>
              </p:ext>
            </p:extLst>
          </p:nvPr>
        </p:nvGraphicFramePr>
        <p:xfrm>
          <a:off x="93853" y="8557401"/>
          <a:ext cx="16412994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2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604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Team Summary</a:t>
                      </a:r>
                    </a:p>
                    <a:p>
                      <a:pPr algn="ctr"/>
                      <a:r>
                        <a:rPr lang="en-US" sz="2200" b="0" i="1" dirty="0"/>
                        <a:t>Filled in by Scrum Master during Standup</a:t>
                      </a:r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b="1" dirty="0"/>
                        <a:t>Question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Team Answer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i="0" dirty="0"/>
                        <a:t>Are we on track for our sprint goal?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/>
                        <a:t>Yes</a:t>
                      </a:r>
                    </a:p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dirty="0"/>
                        <a:t>Any major integration risks?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Yes</a:t>
                      </a:r>
                    </a:p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dirty="0"/>
                        <a:t>Do we need instructor help?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Yes</a:t>
                      </a:r>
                    </a:p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583623"/>
              </p:ext>
            </p:extLst>
          </p:nvPr>
        </p:nvGraphicFramePr>
        <p:xfrm>
          <a:off x="232749" y="1578605"/>
          <a:ext cx="16412996" cy="6978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3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3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3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3623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b="1" i="0" dirty="0"/>
                        <a:t>Around</a:t>
                      </a:r>
                      <a:r>
                        <a:rPr lang="en-US" sz="2200" b="1" i="0" baseline="0" dirty="0"/>
                        <a:t> the Room</a:t>
                      </a:r>
                    </a:p>
                    <a:p>
                      <a:pPr algn="ctr"/>
                      <a:r>
                        <a:rPr lang="en-US" sz="2200" b="0" i="1" baseline="0" dirty="0"/>
                        <a:t>Filled in by each individual before or during Standup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280">
                <a:tc>
                  <a:txBody>
                    <a:bodyPr/>
                    <a:lstStyle/>
                    <a:p>
                      <a:r>
                        <a:rPr lang="en-US" sz="2200" b="1" dirty="0"/>
                        <a:t>Scrum Master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Hardware Lead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Software Lead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Integration Lead</a:t>
                      </a:r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2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i="1" dirty="0"/>
                        <a:t>Nathan Hong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i="0" dirty="0"/>
                        <a:t>Anwitha </a:t>
                      </a:r>
                      <a:r>
                        <a:rPr lang="en-US" altLang="zh-CN" sz="2200" i="0" dirty="0" err="1"/>
                        <a:t>Sanivarapu</a:t>
                      </a:r>
                      <a:endParaRPr lang="en-US" altLang="zh-CN" sz="220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altLang="zh-CN" sz="2200" i="0" baseline="0" dirty="0"/>
                        <a:t>Yitian Lu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altLang="zh-CN" sz="2200" i="0" baseline="0" dirty="0"/>
                        <a:t>Audrey Chiang 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28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b="1" i="0" dirty="0"/>
                        <a:t>What I completed since last</a:t>
                      </a:r>
                      <a:r>
                        <a:rPr lang="en-US" sz="2200" b="1" i="0" baseline="0" dirty="0"/>
                        <a:t> standup</a:t>
                      </a:r>
                      <a:endParaRPr lang="en-US" sz="2200" b="1" i="0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623">
                <a:tc>
                  <a:txBody>
                    <a:bodyPr/>
                    <a:lstStyle/>
                    <a:p>
                      <a:r>
                        <a:rPr lang="en-US" sz="2200" i="1" dirty="0"/>
                        <a:t>Nothing</a:t>
                      </a:r>
                    </a:p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dirty="0"/>
                        <a:t>Build up the circuit 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i="1" dirty="0"/>
                        <a:t>Wrote the code to pick up raw data from the ppg sensor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dirty="0"/>
                        <a:t>Worked with Anwitha to build up the circuit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28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b="1" i="0" dirty="0"/>
                        <a:t>What I’m working on today</a:t>
                      </a:r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3623">
                <a:tc>
                  <a:txBody>
                    <a:bodyPr/>
                    <a:lstStyle/>
                    <a:p>
                      <a:r>
                        <a:rPr lang="en-US" sz="2200" i="1" dirty="0"/>
                        <a:t>Looking into </a:t>
                      </a:r>
                      <a:r>
                        <a:rPr lang="en-US" sz="2200" i="1" dirty="0" err="1"/>
                        <a:t>bluetooth</a:t>
                      </a:r>
                      <a:r>
                        <a:rPr lang="en-US" sz="2200" i="1" dirty="0"/>
                        <a:t> / wireless</a:t>
                      </a:r>
                    </a:p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i="1" dirty="0"/>
                        <a:t>Looking into </a:t>
                      </a:r>
                      <a:r>
                        <a:rPr lang="en-US" altLang="zh-CN" sz="2200" i="1" dirty="0" err="1"/>
                        <a:t>bluetooth</a:t>
                      </a:r>
                      <a:r>
                        <a:rPr lang="en-US" altLang="zh-CN" sz="2200" i="1" dirty="0"/>
                        <a:t> / wireless</a:t>
                      </a:r>
                    </a:p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dirty="0"/>
                        <a:t>Figure out a  digital filter, calculate and classify the BPM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i="1" dirty="0"/>
                        <a:t>Looking into </a:t>
                      </a:r>
                      <a:r>
                        <a:rPr lang="en-US" altLang="zh-CN" sz="2200" i="1" dirty="0" err="1"/>
                        <a:t>bluetooth</a:t>
                      </a:r>
                      <a:r>
                        <a:rPr lang="en-US" altLang="zh-CN" sz="2200" i="1" dirty="0"/>
                        <a:t> / wireless</a:t>
                      </a:r>
                    </a:p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3623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b="1" i="0" dirty="0"/>
                        <a:t>Blockers</a:t>
                      </a:r>
                    </a:p>
                    <a:p>
                      <a:pPr algn="ctr"/>
                      <a:r>
                        <a:rPr lang="en-US" sz="2200" b="0" i="1" dirty="0"/>
                        <a:t>(Be specific:</a:t>
                      </a:r>
                      <a:r>
                        <a:rPr lang="en-US" sz="2200" b="0" i="1" baseline="0" dirty="0"/>
                        <a:t> hardware, code bug, merge conflict, unclear requirement, etc.)</a:t>
                      </a:r>
                      <a:endParaRPr lang="en-US" sz="2200" b="0" i="1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89932">
                <a:tc>
                  <a:txBody>
                    <a:bodyPr/>
                    <a:lstStyle/>
                    <a:p>
                      <a:r>
                        <a:rPr lang="en-US" sz="2200" i="1" dirty="0"/>
                        <a:t>none</a:t>
                      </a:r>
                    </a:p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altLang="zh-CN" sz="2200" i="1" dirty="0" err="1"/>
                        <a:t>Mikroe</a:t>
                      </a:r>
                      <a:r>
                        <a:rPr lang="en-US" altLang="zh-CN" sz="2200" i="1" dirty="0"/>
                        <a:t> shield incompatibility (using breadboard)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fr-CA" altLang="zh-CN" sz="2200" i="1" dirty="0"/>
                        <a:t>Validating Sampling Rate consistency </a:t>
                      </a:r>
                      <a:r>
                        <a:rPr lang="en-US" sz="2200" i="1" dirty="0"/>
                        <a:t>between sensor and Arduino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i="1"/>
                        <a:t>Mikroe shield incompatibility (using breadboard)</a:t>
                      </a:r>
                      <a:endParaRPr lang="en-US" altLang="zh-CN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466722"/>
              </p:ext>
            </p:extLst>
          </p:nvPr>
        </p:nvGraphicFramePr>
        <p:xfrm>
          <a:off x="16944181" y="2093168"/>
          <a:ext cx="662468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4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GitHub Metrics</a:t>
                      </a:r>
                    </a:p>
                    <a:p>
                      <a:pPr algn="ctr"/>
                      <a:r>
                        <a:rPr lang="en-US" sz="2200" b="0" i="1" dirty="0"/>
                        <a:t>Filled in by Software Lead before or during Standup</a:t>
                      </a:r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/>
                        <a:t>Metric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/>
                        <a:t>Value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0" dirty="0"/>
                        <a:t># Commits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200" i="0" dirty="0"/>
                        <a:t># Contributors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0" dirty="0"/>
                        <a:t># Files</a:t>
                      </a:r>
                      <a:r>
                        <a:rPr lang="en-US" sz="2200" i="0" baseline="0" dirty="0"/>
                        <a:t> Changed</a:t>
                      </a:r>
                      <a:endParaRPr lang="en-US" sz="220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929970"/>
              </p:ext>
            </p:extLst>
          </p:nvPr>
        </p:nvGraphicFramePr>
        <p:xfrm>
          <a:off x="16944181" y="5208224"/>
          <a:ext cx="6624689" cy="691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Hardware List</a:t>
                      </a:r>
                    </a:p>
                    <a:p>
                      <a:pPr algn="ctr"/>
                      <a:r>
                        <a:rPr lang="en-US" sz="2200" b="0" i="1" dirty="0"/>
                        <a:t>Filled in by Hardware Lead before or during Standup</a:t>
                      </a:r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/>
                        <a:t>Item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/>
                        <a:t>Status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err="1"/>
                        <a:t>Mikroe</a:t>
                      </a:r>
                      <a:r>
                        <a:rPr lang="en-US" sz="2200" i="1" dirty="0"/>
                        <a:t> EEG</a:t>
                      </a:r>
                      <a:r>
                        <a:rPr lang="en-US" sz="2200" i="1" baseline="0" dirty="0"/>
                        <a:t> Click Board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/>
                        <a:t>In</a:t>
                      </a:r>
                      <a:r>
                        <a:rPr lang="en-US" sz="2200" i="1" baseline="0" dirty="0"/>
                        <a:t> team’s possession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err="1"/>
                        <a:t>Mikroe</a:t>
                      </a:r>
                      <a:r>
                        <a:rPr lang="en-US" sz="2200" i="1" dirty="0"/>
                        <a:t> Shield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/>
                        <a:t>In</a:t>
                      </a:r>
                      <a:r>
                        <a:rPr lang="en-US" sz="2200" i="1" baseline="0" dirty="0"/>
                        <a:t> team’s possession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/>
                        <a:t>Arduino</a:t>
                      </a:r>
                      <a:r>
                        <a:rPr lang="en-US" sz="2200" i="1" baseline="0" dirty="0"/>
                        <a:t> Uno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/>
                        <a:t>In</a:t>
                      </a:r>
                      <a:r>
                        <a:rPr lang="en-US" sz="2200" i="1" baseline="0" dirty="0"/>
                        <a:t> team’s possession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209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394311"/>
              </p:ext>
            </p:extLst>
          </p:nvPr>
        </p:nvGraphicFramePr>
        <p:xfrm>
          <a:off x="236705" y="221210"/>
          <a:ext cx="9557588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lang="en-US" sz="2200" dirty="0"/>
                        <a:t>Team: </a:t>
                      </a:r>
                      <a:r>
                        <a:rPr lang="en-US" altLang="zh-CN" sz="2200" b="0" i="0" dirty="0"/>
                        <a:t>Ex</a:t>
                      </a:r>
                      <a:r>
                        <a:rPr lang="en-US" altLang="zh-CN" sz="2200" b="0" i="0" u="none" strike="noStrike" noProof="0" dirty="0">
                          <a:latin typeface="+mn-lt"/>
                        </a:rPr>
                        <a:t>Pulse Team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i="0" dirty="0"/>
                        <a:t>GitHub: </a:t>
                      </a:r>
                      <a:r>
                        <a:rPr lang="en-US" altLang="zh-CN" sz="2200" b="0" i="0" u="none" strike="noStrike" noProof="0" dirty="0">
                          <a:latin typeface="+mn-lt"/>
                        </a:rPr>
                        <a:t>https://github.com/peterlu15-lgtm/biofeedback-Group-5-.git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058015"/>
              </p:ext>
            </p:extLst>
          </p:nvPr>
        </p:nvGraphicFramePr>
        <p:xfrm>
          <a:off x="232749" y="1046287"/>
          <a:ext cx="9557588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76">
                <a:tc>
                  <a:txBody>
                    <a:bodyPr/>
                    <a:lstStyle/>
                    <a:p>
                      <a:r>
                        <a:rPr lang="en-US" sz="2200" dirty="0"/>
                        <a:t>Sprint: </a:t>
                      </a:r>
                      <a:r>
                        <a:rPr lang="en-US" sz="2200" b="0" i="1" dirty="0"/>
                        <a:t>#1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Start: </a:t>
                      </a:r>
                      <a:r>
                        <a:rPr lang="en-US" altLang="zh-CN" sz="2200" dirty="0"/>
                        <a:t>13/02/2026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i="0" dirty="0"/>
                        <a:t>End: </a:t>
                      </a:r>
                      <a:r>
                        <a:rPr lang="en-US" altLang="zh-CN" sz="2200" b="1" i="1" dirty="0"/>
                        <a:t>20/02/2026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0006653" y="254366"/>
            <a:ext cx="13562217" cy="1011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987" b="1" dirty="0"/>
              <a:t>Standup </a:t>
            </a:r>
            <a:r>
              <a:rPr sz="2987" b="1" dirty="0"/>
              <a:t>Board</a:t>
            </a:r>
            <a:endParaRPr lang="en-US" sz="2987" b="1" dirty="0"/>
          </a:p>
          <a:p>
            <a:pPr algn="ctr"/>
            <a:r>
              <a:rPr lang="en-US" sz="2987" dirty="0"/>
              <a:t>Go </a:t>
            </a:r>
            <a:r>
              <a:rPr lang="en-US" sz="2987" i="1" dirty="0"/>
              <a:t>around the room </a:t>
            </a:r>
            <a:r>
              <a:rPr lang="en-US" sz="2987" dirty="0"/>
              <a:t>and prepare a </a:t>
            </a:r>
            <a:r>
              <a:rPr lang="en-US" sz="2987" i="1" dirty="0"/>
              <a:t>team summary </a:t>
            </a:r>
            <a:r>
              <a:rPr lang="en-US" sz="2987" dirty="0"/>
              <a:t>of progress.</a:t>
            </a:r>
            <a:endParaRPr sz="2987" dirty="0"/>
          </a:p>
        </p:txBody>
      </p:sp>
    </p:spTree>
    <p:extLst>
      <p:ext uri="{BB962C8B-B14F-4D97-AF65-F5344CB8AC3E}">
        <p14:creationId xmlns:p14="http://schemas.microsoft.com/office/powerpoint/2010/main" val="7844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78201"/>
              </p:ext>
            </p:extLst>
          </p:nvPr>
        </p:nvGraphicFramePr>
        <p:xfrm>
          <a:off x="232748" y="1866401"/>
          <a:ext cx="12454551" cy="2444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8388">
                <a:tc>
                  <a:txBody>
                    <a:bodyPr/>
                    <a:lstStyle/>
                    <a:p>
                      <a:r>
                        <a:rPr lang="en-US" sz="2200" b="1" dirty="0"/>
                        <a:t>Sprint</a:t>
                      </a:r>
                      <a:r>
                        <a:rPr lang="en-US" sz="2200" b="1" baseline="0" dirty="0"/>
                        <a:t> Goal Recap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5167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/>
                        <a:t>We successfully achieved the goal of real-time raw data acquisition from the PG sensor. Evidence of this progress can be seen in our IR/Red data streams( screenshots here and the video uploaded on canvas)</a:t>
                      </a:r>
                      <a:endParaRPr lang="en-US" sz="2200" i="1" baseline="0" dirty="0"/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2200" i="1" baseline="0" dirty="0"/>
                    </a:p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719253"/>
              </p:ext>
            </p:extLst>
          </p:nvPr>
        </p:nvGraphicFramePr>
        <p:xfrm>
          <a:off x="236705" y="4563818"/>
          <a:ext cx="12450594" cy="3358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5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5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What Went</a:t>
                      </a:r>
                      <a:r>
                        <a:rPr lang="en-US" sz="2200" baseline="0" dirty="0"/>
                        <a:t> Well?</a:t>
                      </a:r>
                      <a:endParaRPr lang="en-US" sz="2200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What Didn’t Go Well?</a:t>
                      </a:r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1" dirty="0"/>
                        <a:t>We successfully pulled raw IR/Red data from the sensor via I2C. The signal quality is surprisingly clearer than we thought.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2200" i="1" dirty="0"/>
                        <a:t>The </a:t>
                      </a:r>
                      <a:r>
                        <a:rPr lang="en-US" altLang="zh-CN" sz="2200" i="1" dirty="0" err="1"/>
                        <a:t>Mikroe</a:t>
                      </a:r>
                      <a:r>
                        <a:rPr lang="en-US" altLang="zh-CN" sz="2200" i="1" dirty="0"/>
                        <a:t> shield was incompatible with our sensor, forcing us to spend extra time rewiring the entire system on a breadboard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1" dirty="0"/>
                        <a:t>The system’s current size exceeds our initial expectations, which may hinder mobile testing and user comfort.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13209755" y="1884844"/>
          <a:ext cx="10126496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3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3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What We Learned</a:t>
                      </a:r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Technical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Team</a:t>
                      </a:r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1" dirty="0"/>
                        <a:t>Example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1" dirty="0"/>
                        <a:t>Example</a:t>
                      </a:r>
                    </a:p>
                  </a:txBody>
                  <a:tcPr marL="170688" marR="170688" marT="85344" marB="853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236705" y="8266576"/>
          <a:ext cx="12450594" cy="4047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0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Process Improvements for Next Sprint</a:t>
                      </a:r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/>
                        <a:t>Problem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/>
                        <a:t>Change</a:t>
                      </a:r>
                      <a:r>
                        <a:rPr lang="en-US" sz="2200" b="1" baseline="0" dirty="0"/>
                        <a:t> We Will Try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0" i="1" dirty="0"/>
                        <a:t>Only one</a:t>
                      </a:r>
                      <a:r>
                        <a:rPr lang="en-US" sz="2200" b="0" i="1" baseline="0" dirty="0"/>
                        <a:t> person used GitHub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0" i="1" dirty="0"/>
                        <a:t>Require another teammate to review commits</a:t>
                      </a:r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988240"/>
              </p:ext>
            </p:extLst>
          </p:nvPr>
        </p:nvGraphicFramePr>
        <p:xfrm>
          <a:off x="236705" y="221210"/>
          <a:ext cx="9557588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lang="en-US" sz="2200" dirty="0"/>
                        <a:t>Team: </a:t>
                      </a:r>
                      <a:r>
                        <a:rPr lang="en-US" altLang="zh-CN" sz="2200" dirty="0"/>
                        <a:t>: </a:t>
                      </a:r>
                      <a:r>
                        <a:rPr lang="en-US" altLang="zh-CN" sz="2200" b="0" i="0" dirty="0"/>
                        <a:t>Ex</a:t>
                      </a:r>
                      <a:r>
                        <a:rPr lang="en-US" altLang="zh-CN" sz="2200" b="0" i="0" u="none" strike="noStrike" noProof="0" dirty="0">
                          <a:latin typeface="+mn-lt"/>
                        </a:rPr>
                        <a:t>Pulse Team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i="0" dirty="0"/>
                        <a:t>GitHub: </a:t>
                      </a:r>
                      <a:r>
                        <a:rPr lang="en-US" altLang="zh-CN" sz="2200" b="0" i="0" u="none" strike="noStrike" noProof="0" dirty="0">
                          <a:latin typeface="+mn-lt"/>
                        </a:rPr>
                        <a:t>https://github.com/peterlu15-lgtm/biofeedback-Group-5-.git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232749" y="1046287"/>
          <a:ext cx="9557588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76">
                <a:tc>
                  <a:txBody>
                    <a:bodyPr/>
                    <a:lstStyle/>
                    <a:p>
                      <a:r>
                        <a:rPr lang="en-US" sz="2200" dirty="0"/>
                        <a:t>Sprint: </a:t>
                      </a:r>
                      <a:r>
                        <a:rPr lang="en-US" sz="2200" b="0" i="1" dirty="0"/>
                        <a:t>#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Start: </a:t>
                      </a:r>
                      <a:r>
                        <a:rPr lang="en-US" sz="2200" b="0" i="1" dirty="0"/>
                        <a:t>Date 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i="0" dirty="0"/>
                        <a:t>End: </a:t>
                      </a:r>
                      <a:r>
                        <a:rPr lang="en-US" sz="2200" b="0" i="1" dirty="0"/>
                        <a:t>Date</a:t>
                      </a:r>
                    </a:p>
                  </a:txBody>
                  <a:tcPr marL="170688" marR="170688" marT="85344" marB="8534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10006653" y="254366"/>
            <a:ext cx="13562217" cy="1011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987" b="1" dirty="0"/>
              <a:t>Retrospective Board</a:t>
            </a:r>
          </a:p>
          <a:p>
            <a:pPr algn="ctr"/>
            <a:r>
              <a:rPr lang="en-US" sz="2987" dirty="0"/>
              <a:t>Reflect on this past week and propose improvements for the future.</a:t>
            </a:r>
            <a:endParaRPr sz="2987" dirty="0"/>
          </a:p>
        </p:txBody>
      </p:sp>
    </p:spTree>
    <p:extLst>
      <p:ext uri="{BB962C8B-B14F-4D97-AF65-F5344CB8AC3E}">
        <p14:creationId xmlns:p14="http://schemas.microsoft.com/office/powerpoint/2010/main" val="1643269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ecc0abd-95b1-4ec7-865a-9f8f31ef9a0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CA2F44B6F8E648B6482CA9D8053309" ma:contentTypeVersion="16" ma:contentTypeDescription="Create a new document." ma:contentTypeScope="" ma:versionID="62d6f1755cb4981a31f888359ab37022">
  <xsd:schema xmlns:xsd="http://www.w3.org/2001/XMLSchema" xmlns:xs="http://www.w3.org/2001/XMLSchema" xmlns:p="http://schemas.microsoft.com/office/2006/metadata/properties" xmlns:ns3="becc0abd-95b1-4ec7-865a-9f8f31ef9a0d" xmlns:ns4="a2fb4213-2d5d-4e09-86ba-2ae5636ce0ba" targetNamespace="http://schemas.microsoft.com/office/2006/metadata/properties" ma:root="true" ma:fieldsID="7af49191c55671f8ec2dc8207d668677" ns3:_="" ns4:_="">
    <xsd:import namespace="becc0abd-95b1-4ec7-865a-9f8f31ef9a0d"/>
    <xsd:import namespace="a2fb4213-2d5d-4e09-86ba-2ae5636ce0b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SystemTag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cc0abd-95b1-4ec7-865a-9f8f31ef9a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fb4213-2d5d-4e09-86ba-2ae5636ce0b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0C742E-9118-4D5B-8A98-7BC234B84D90}">
  <ds:schemaRefs>
    <ds:schemaRef ds:uri="a2fb4213-2d5d-4e09-86ba-2ae5636ce0ba"/>
    <ds:schemaRef ds:uri="becc0abd-95b1-4ec7-865a-9f8f31ef9a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0DC0CA-D296-4656-9545-7E345914FE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70958A-9C7A-4EEE-A153-55E5B45022B3}">
  <ds:schemaRefs>
    <ds:schemaRef ds:uri="a2fb4213-2d5d-4e09-86ba-2ae5636ce0ba"/>
    <ds:schemaRef ds:uri="becc0abd-95b1-4ec7-865a-9f8f31ef9a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855</Words>
  <Application>Microsoft Office PowerPoint</Application>
  <PresentationFormat>自定义</PresentationFormat>
  <Paragraphs>195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 Boards Templates</dc:title>
  <dc:subject/>
  <dc:creator>Grace</dc:creator>
  <cp:keywords/>
  <dc:description>generated using python-pptx</dc:description>
  <cp:lastModifiedBy>Lu, Yitian</cp:lastModifiedBy>
  <cp:revision>89</cp:revision>
  <dcterms:created xsi:type="dcterms:W3CDTF">2013-01-27T09:14:16Z</dcterms:created>
  <dcterms:modified xsi:type="dcterms:W3CDTF">2026-02-20T21:27:37Z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0x01010040CA2F44B6F8E648B6482CA9D8053309</vt:lpwstr>
  </property>
</Properties>
</file>